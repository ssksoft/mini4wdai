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6a225c49-0970-fce0-bd80-951745dbd9cc}">
          <p14:sldIdLst>
            <p14:sldId id="256"/>
            <p14:sldId id="257"/>
            <p14:sldId id="258"/>
          </p14:sldIdLst>
        </p14:section>
        <p14:section name="課題" id="{a1d47315-f540-e52d-87a6-27b0364502ba}">
          <p14:sldIdLst>
            <p14:sldId id="259"/>
            <p14:sldId id="260"/>
            <p14:sldId id="261"/>
          </p14:sldIdLst>
        </p14:section>
        <p14:section name="解法" id="{8df2f315-93a7-d2ff-c39e-0214e15efe68}">
          <p14:sldIdLst>
            <p14:sldId id="262"/>
            <p14:sldId id="263"/>
            <p14:sldId id="264"/>
          </p14:sldIdLst>
        </p14:section>
        <p14:section name="結果" id="{09d71a05-dfd2-cbd6-f79f-41871ad5f068}">
          <p14:sldIdLst>
            <p14:sldId id="265"/>
            <p14:sldId id="266"/>
            <p14:sldId id="267"/>
          </p14:sldIdLst>
        </p14:section>
        <p14:section name="限界と次の一手" id="{152ee642-68cf-785d-e9c5-8a4dc752de51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実速度</c:v>
                </c:pt>
              </c:strCache>
            </c:strRef>
          </c:tx>
          <c:spPr>
            <a:solidFill>
              <a:srgbClr val="E4002B"/>
            </a:solidFill>
            <a:ln w="31750" cap="flat">
              <a:solidFill>
                <a:srgbClr val="E400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4002B"/>
              </a:solidFill>
              <a:ln w="9525" cap="flat">
                <a:solidFill>
                  <a:srgbClr val="E400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Sheet1!$A$2:$A$103</c:f>
              <c:multiLvlStrCache>
                <c:ptCount val="102"/>
                <c:lvl>
                  <c:pt idx="0">
                    <c:v>0.0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0.5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1.0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1.4</c:v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>1.9</c:v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2.4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>2.9</c:v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>3.4</c:v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>3.8</c:v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</c:lvl>
              </c:multiLvlStrCache>
            </c:multiLvlStrRef>
          </c:cat>
          <c:val>
            <c:numRef>
              <c:f>Sheet1!$B$2:$B$103</c:f>
              <c:numCache>
                <c:formatCode>General</c:formatCode>
                <c:ptCount val="102"/>
                <c:pt idx="0">
                  <c:v>0.21</c:v>
                </c:pt>
                <c:pt idx="1">
                  <c:v>0.18</c:v>
                </c:pt>
                <c:pt idx="2">
                  <c:v>0.57</c:v>
                </c:pt>
                <c:pt idx="3">
                  <c:v>0.98</c:v>
                </c:pt>
                <c:pt idx="4">
                  <c:v>1.37</c:v>
                </c:pt>
                <c:pt idx="5">
                  <c:v>1.76</c:v>
                </c:pt>
                <c:pt idx="6">
                  <c:v>2.14</c:v>
                </c:pt>
                <c:pt idx="7">
                  <c:v>2.53</c:v>
                </c:pt>
                <c:pt idx="8">
                  <c:v>2.94</c:v>
                </c:pt>
                <c:pt idx="9">
                  <c:v>3.13</c:v>
                </c:pt>
                <c:pt idx="10">
                  <c:v>3.27</c:v>
                </c:pt>
                <c:pt idx="11">
                  <c:v>3.34</c:v>
                </c:pt>
                <c:pt idx="12">
                  <c:v>3.38</c:v>
                </c:pt>
                <c:pt idx="13">
                  <c:v>3.36</c:v>
                </c:pt>
                <c:pt idx="14">
                  <c:v>3.3</c:v>
                </c:pt>
                <c:pt idx="15">
                  <c:v>3.24</c:v>
                </c:pt>
                <c:pt idx="16">
                  <c:v>3.12</c:v>
                </c:pt>
                <c:pt idx="17">
                  <c:v>3.02</c:v>
                </c:pt>
                <c:pt idx="18">
                  <c:v>2.87</c:v>
                </c:pt>
                <c:pt idx="19">
                  <c:v>2.69</c:v>
                </c:pt>
                <c:pt idx="20">
                  <c:v>2.6</c:v>
                </c:pt>
                <c:pt idx="21">
                  <c:v>2.53</c:v>
                </c:pt>
                <c:pt idx="22">
                  <c:v>2.36</c:v>
                </c:pt>
                <c:pt idx="23">
                  <c:v>2.29</c:v>
                </c:pt>
                <c:pt idx="24">
                  <c:v>2.29</c:v>
                </c:pt>
                <c:pt idx="25">
                  <c:v>2.4</c:v>
                </c:pt>
                <c:pt idx="26">
                  <c:v>2.45</c:v>
                </c:pt>
                <c:pt idx="27">
                  <c:v>2.54</c:v>
                </c:pt>
                <c:pt idx="28">
                  <c:v>2.64</c:v>
                </c:pt>
                <c:pt idx="29">
                  <c:v>2.58</c:v>
                </c:pt>
                <c:pt idx="30">
                  <c:v>2.61</c:v>
                </c:pt>
                <c:pt idx="31">
                  <c:v>2.6</c:v>
                </c:pt>
                <c:pt idx="32">
                  <c:v>2.6</c:v>
                </c:pt>
                <c:pt idx="33">
                  <c:v>2.89</c:v>
                </c:pt>
                <c:pt idx="34">
                  <c:v>3.17</c:v>
                </c:pt>
                <c:pt idx="35">
                  <c:v>3.4</c:v>
                </c:pt>
                <c:pt idx="36">
                  <c:v>3.63</c:v>
                </c:pt>
                <c:pt idx="37">
                  <c:v>3.86</c:v>
                </c:pt>
                <c:pt idx="38">
                  <c:v>4.05</c:v>
                </c:pt>
                <c:pt idx="39">
                  <c:v>4.25</c:v>
                </c:pt>
                <c:pt idx="40">
                  <c:v>4.41</c:v>
                </c:pt>
                <c:pt idx="41">
                  <c:v>4.55</c:v>
                </c:pt>
                <c:pt idx="42">
                  <c:v>4.83</c:v>
                </c:pt>
                <c:pt idx="43">
                  <c:v>5.09</c:v>
                </c:pt>
                <c:pt idx="44">
                  <c:v>5.32</c:v>
                </c:pt>
                <c:pt idx="45">
                  <c:v>5.54</c:v>
                </c:pt>
                <c:pt idx="46">
                  <c:v>5.7</c:v>
                </c:pt>
                <c:pt idx="47">
                  <c:v>5.72</c:v>
                </c:pt>
                <c:pt idx="48">
                  <c:v>5.78</c:v>
                </c:pt>
                <c:pt idx="49">
                  <c:v>5.8</c:v>
                </c:pt>
                <c:pt idx="50">
                  <c:v>5.83</c:v>
                </c:pt>
                <c:pt idx="51">
                  <c:v>5.89</c:v>
                </c:pt>
                <c:pt idx="52">
                  <c:v>5.93</c:v>
                </c:pt>
                <c:pt idx="53">
                  <c:v>5.94</c:v>
                </c:pt>
                <c:pt idx="54">
                  <c:v>6.11</c:v>
                </c:pt>
                <c:pt idx="55">
                  <c:v>6.11</c:v>
                </c:pt>
                <c:pt idx="56">
                  <c:v>6.08</c:v>
                </c:pt>
                <c:pt idx="57">
                  <c:v>6.11</c:v>
                </c:pt>
                <c:pt idx="58">
                  <c:v>5.92</c:v>
                </c:pt>
                <c:pt idx="59">
                  <c:v>5.82</c:v>
                </c:pt>
                <c:pt idx="60">
                  <c:v>5.61</c:v>
                </c:pt>
                <c:pt idx="61">
                  <c:v>5.41</c:v>
                </c:pt>
                <c:pt idx="62">
                  <c:v>5.17</c:v>
                </c:pt>
                <c:pt idx="63">
                  <c:v>4.98</c:v>
                </c:pt>
                <c:pt idx="64">
                  <c:v>5</c:v>
                </c:pt>
                <c:pt idx="65">
                  <c:v>4.95</c:v>
                </c:pt>
                <c:pt idx="66">
                  <c:v>4.9</c:v>
                </c:pt>
                <c:pt idx="67">
                  <c:v>4.85</c:v>
                </c:pt>
                <c:pt idx="68">
                  <c:v>4.8</c:v>
                </c:pt>
                <c:pt idx="69">
                  <c:v>4.61</c:v>
                </c:pt>
                <c:pt idx="70">
                  <c:v>4.39</c:v>
                </c:pt>
                <c:pt idx="71">
                  <c:v>4.18</c:v>
                </c:pt>
                <c:pt idx="72">
                  <c:v>3.98</c:v>
                </c:pt>
                <c:pt idx="73">
                  <c:v>3.86</c:v>
                </c:pt>
                <c:pt idx="74">
                  <c:v>3.72</c:v>
                </c:pt>
                <c:pt idx="75">
                  <c:v>3.58</c:v>
                </c:pt>
                <c:pt idx="76">
                  <c:v>3.41</c:v>
                </c:pt>
                <c:pt idx="77">
                  <c:v>3.18</c:v>
                </c:pt>
                <c:pt idx="78">
                  <c:v>3.06</c:v>
                </c:pt>
                <c:pt idx="79">
                  <c:v>2.91</c:v>
                </c:pt>
                <c:pt idx="80">
                  <c:v>2.81</c:v>
                </c:pt>
                <c:pt idx="81">
                  <c:v>2.6</c:v>
                </c:pt>
                <c:pt idx="82">
                  <c:v>2.6</c:v>
                </c:pt>
                <c:pt idx="83">
                  <c:v>2.55</c:v>
                </c:pt>
                <c:pt idx="84">
                  <c:v>2.6</c:v>
                </c:pt>
                <c:pt idx="85">
                  <c:v>2.76</c:v>
                </c:pt>
                <c:pt idx="86">
                  <c:v>2.81</c:v>
                </c:pt>
                <c:pt idx="87">
                  <c:v>2.8</c:v>
                </c:pt>
                <c:pt idx="88">
                  <c:v>2.77</c:v>
                </c:pt>
                <c:pt idx="89">
                  <c:v>2.73</c:v>
                </c:pt>
                <c:pt idx="90">
                  <c:v>2.77</c:v>
                </c:pt>
                <c:pt idx="91">
                  <c:v>3.04</c:v>
                </c:pt>
                <c:pt idx="92">
                  <c:v>3.32</c:v>
                </c:pt>
                <c:pt idx="93">
                  <c:v>3.54</c:v>
                </c:pt>
                <c:pt idx="94">
                  <c:v>3.77</c:v>
                </c:pt>
                <c:pt idx="95">
                  <c:v>3.97</c:v>
                </c:pt>
                <c:pt idx="96">
                  <c:v>4.15</c:v>
                </c:pt>
                <c:pt idx="97">
                  <c:v>4.35</c:v>
                </c:pt>
                <c:pt idx="98">
                  <c:v>4.51</c:v>
                </c:pt>
                <c:pt idx="99">
                  <c:v>4.73</c:v>
                </c:pt>
                <c:pt idx="100">
                  <c:v>4.99</c:v>
                </c:pt>
                <c:pt idx="101">
                  <c:v>5.23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IMU推定速度</c:v>
                </c:pt>
              </c:strCache>
            </c:strRef>
          </c:tx>
          <c:spPr>
            <a:solidFill>
              <a:srgbClr val="3D7BE0"/>
            </a:solidFill>
            <a:ln w="31750" cap="flat">
              <a:solidFill>
                <a:srgbClr val="3D7BE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D7BE0"/>
              </a:solidFill>
              <a:ln w="9525" cap="flat">
                <a:solidFill>
                  <a:srgbClr val="3D7BE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Sheet1!$A$2:$A$103</c:f>
              <c:multiLvlStrCache>
                <c:ptCount val="102"/>
                <c:lvl>
                  <c:pt idx="0">
                    <c:v>0.0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0.5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1.0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1.4</c:v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>1.9</c:v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2.4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>2.9</c:v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>3.4</c:v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>3.8</c:v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</c:lvl>
              </c:multiLvlStrCache>
            </c:multiLvlStrRef>
          </c:cat>
          <c:val>
            <c:numRef>
              <c:f>Sheet1!$C$2:$C$103</c:f>
              <c:numCache>
                <c:formatCode>General</c:formatCode>
                <c:ptCount val="102"/>
                <c:pt idx="0">
                  <c:v>0</c:v>
                </c:pt>
                <c:pt idx="1">
                  <c:v>0.23</c:v>
                </c:pt>
                <c:pt idx="2">
                  <c:v>0.6</c:v>
                </c:pt>
                <c:pt idx="3">
                  <c:v>0.96</c:v>
                </c:pt>
                <c:pt idx="4">
                  <c:v>1.38</c:v>
                </c:pt>
                <c:pt idx="5">
                  <c:v>1.75</c:v>
                </c:pt>
                <c:pt idx="6">
                  <c:v>2.11</c:v>
                </c:pt>
                <c:pt idx="7">
                  <c:v>2.54</c:v>
                </c:pt>
                <c:pt idx="8">
                  <c:v>2.9</c:v>
                </c:pt>
                <c:pt idx="9">
                  <c:v>3.13</c:v>
                </c:pt>
                <c:pt idx="10">
                  <c:v>3.24</c:v>
                </c:pt>
                <c:pt idx="11">
                  <c:v>3.31</c:v>
                </c:pt>
                <c:pt idx="12">
                  <c:v>3.33</c:v>
                </c:pt>
                <c:pt idx="13">
                  <c:v>3.28</c:v>
                </c:pt>
                <c:pt idx="14">
                  <c:v>3.23</c:v>
                </c:pt>
                <c:pt idx="15">
                  <c:v>3.17</c:v>
                </c:pt>
                <c:pt idx="16">
                  <c:v>3.11</c:v>
                </c:pt>
                <c:pt idx="17">
                  <c:v>3</c:v>
                </c:pt>
                <c:pt idx="18">
                  <c:v>2.87</c:v>
                </c:pt>
                <c:pt idx="19">
                  <c:v>2.71</c:v>
                </c:pt>
                <c:pt idx="20">
                  <c:v>2.66</c:v>
                </c:pt>
                <c:pt idx="21">
                  <c:v>2.59</c:v>
                </c:pt>
                <c:pt idx="22">
                  <c:v>2.38</c:v>
                </c:pt>
                <c:pt idx="23">
                  <c:v>2.27</c:v>
                </c:pt>
                <c:pt idx="24">
                  <c:v>2.21</c:v>
                </c:pt>
                <c:pt idx="25">
                  <c:v>2.31</c:v>
                </c:pt>
                <c:pt idx="26">
                  <c:v>2.42</c:v>
                </c:pt>
                <c:pt idx="27">
                  <c:v>2.5</c:v>
                </c:pt>
                <c:pt idx="28">
                  <c:v>2.57</c:v>
                </c:pt>
                <c:pt idx="29">
                  <c:v>2.55</c:v>
                </c:pt>
                <c:pt idx="30">
                  <c:v>2.62</c:v>
                </c:pt>
                <c:pt idx="31">
                  <c:v>2.63</c:v>
                </c:pt>
                <c:pt idx="32">
                  <c:v>2.63</c:v>
                </c:pt>
                <c:pt idx="33">
                  <c:v>2.92</c:v>
                </c:pt>
                <c:pt idx="34">
                  <c:v>3.25</c:v>
                </c:pt>
                <c:pt idx="35">
                  <c:v>3.51</c:v>
                </c:pt>
                <c:pt idx="36">
                  <c:v>3.71</c:v>
                </c:pt>
                <c:pt idx="37">
                  <c:v>3.97</c:v>
                </c:pt>
                <c:pt idx="38">
                  <c:v>4.15</c:v>
                </c:pt>
                <c:pt idx="39">
                  <c:v>4.34</c:v>
                </c:pt>
                <c:pt idx="40">
                  <c:v>4.46</c:v>
                </c:pt>
                <c:pt idx="41">
                  <c:v>4.59</c:v>
                </c:pt>
                <c:pt idx="42">
                  <c:v>4.84</c:v>
                </c:pt>
                <c:pt idx="43">
                  <c:v>5.08</c:v>
                </c:pt>
                <c:pt idx="44">
                  <c:v>5.34</c:v>
                </c:pt>
                <c:pt idx="45">
                  <c:v>5.54</c:v>
                </c:pt>
                <c:pt idx="46">
                  <c:v>5.72</c:v>
                </c:pt>
                <c:pt idx="47">
                  <c:v>5.66</c:v>
                </c:pt>
                <c:pt idx="48">
                  <c:v>5.64</c:v>
                </c:pt>
                <c:pt idx="49">
                  <c:v>5.63</c:v>
                </c:pt>
                <c:pt idx="50">
                  <c:v>5.68</c:v>
                </c:pt>
                <c:pt idx="51">
                  <c:v>5.72</c:v>
                </c:pt>
                <c:pt idx="52">
                  <c:v>5.82</c:v>
                </c:pt>
                <c:pt idx="53">
                  <c:v>5.89</c:v>
                </c:pt>
                <c:pt idx="54">
                  <c:v>6.13</c:v>
                </c:pt>
                <c:pt idx="55">
                  <c:v>6.19</c:v>
                </c:pt>
                <c:pt idx="56">
                  <c:v>6.42</c:v>
                </c:pt>
                <c:pt idx="57">
                  <c:v>5.87</c:v>
                </c:pt>
                <c:pt idx="58">
                  <c:v>5.88</c:v>
                </c:pt>
                <c:pt idx="59">
                  <c:v>6</c:v>
                </c:pt>
                <c:pt idx="60">
                  <c:v>5.99</c:v>
                </c:pt>
                <c:pt idx="61">
                  <c:v>5.88</c:v>
                </c:pt>
                <c:pt idx="62">
                  <c:v>5.66</c:v>
                </c:pt>
                <c:pt idx="63">
                  <c:v>5.44</c:v>
                </c:pt>
                <c:pt idx="64">
                  <c:v>5.32</c:v>
                </c:pt>
                <c:pt idx="65">
                  <c:v>5.27</c:v>
                </c:pt>
                <c:pt idx="66">
                  <c:v>5.23</c:v>
                </c:pt>
                <c:pt idx="67">
                  <c:v>5.17</c:v>
                </c:pt>
                <c:pt idx="68">
                  <c:v>5.13</c:v>
                </c:pt>
                <c:pt idx="69">
                  <c:v>4.86</c:v>
                </c:pt>
                <c:pt idx="70">
                  <c:v>4.45</c:v>
                </c:pt>
                <c:pt idx="71">
                  <c:v>4.13</c:v>
                </c:pt>
                <c:pt idx="72">
                  <c:v>3.75</c:v>
                </c:pt>
                <c:pt idx="73">
                  <c:v>3.44</c:v>
                </c:pt>
                <c:pt idx="74">
                  <c:v>3.25</c:v>
                </c:pt>
                <c:pt idx="75">
                  <c:v>3.12</c:v>
                </c:pt>
                <c:pt idx="76">
                  <c:v>3.01</c:v>
                </c:pt>
                <c:pt idx="77">
                  <c:v>2.93</c:v>
                </c:pt>
                <c:pt idx="78">
                  <c:v>2.84</c:v>
                </c:pt>
                <c:pt idx="79">
                  <c:v>2.71</c:v>
                </c:pt>
                <c:pt idx="80">
                  <c:v>2.6</c:v>
                </c:pt>
                <c:pt idx="81">
                  <c:v>2.27</c:v>
                </c:pt>
                <c:pt idx="82">
                  <c:v>2.13</c:v>
                </c:pt>
                <c:pt idx="83">
                  <c:v>2.13</c:v>
                </c:pt>
                <c:pt idx="84">
                  <c:v>2.23</c:v>
                </c:pt>
                <c:pt idx="85">
                  <c:v>2.43</c:v>
                </c:pt>
                <c:pt idx="86">
                  <c:v>2.54</c:v>
                </c:pt>
                <c:pt idx="87">
                  <c:v>2.57</c:v>
                </c:pt>
                <c:pt idx="88">
                  <c:v>2.67</c:v>
                </c:pt>
                <c:pt idx="89">
                  <c:v>2.75</c:v>
                </c:pt>
                <c:pt idx="90">
                  <c:v>2.84</c:v>
                </c:pt>
                <c:pt idx="91">
                  <c:v>3.21</c:v>
                </c:pt>
                <c:pt idx="92">
                  <c:v>3.62</c:v>
                </c:pt>
                <c:pt idx="93">
                  <c:v>3.92</c:v>
                </c:pt>
                <c:pt idx="94">
                  <c:v>4.26</c:v>
                </c:pt>
                <c:pt idx="95">
                  <c:v>4.5</c:v>
                </c:pt>
                <c:pt idx="96">
                  <c:v>4.7</c:v>
                </c:pt>
                <c:pt idx="97">
                  <c:v>4.87</c:v>
                </c:pt>
                <c:pt idx="98">
                  <c:v>4.93</c:v>
                </c:pt>
                <c:pt idx="99">
                  <c:v>5.09</c:v>
                </c:pt>
                <c:pt idx="100">
                  <c:v>5.32</c:v>
                </c:pt>
                <c:pt idx="101">
                  <c:v>5.55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8A93A3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8A93A3"/>
                    </a:solidFill>
                    <a:latin typeface="+mn-lt"/>
                  </a:rPr>
                  <a:t>時間 [s]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2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2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9525" cap="flat">
              <a:solidFill>
                <a:srgbClr val="E3E6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8A93A3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8A93A3"/>
                    </a:solidFill>
                    <a:latin typeface="+mn-lt"/>
                  </a:rPr>
                  <a:t>速度 [m/s]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3A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実機・通常モーター（概算）</c:v>
                </c:pt>
              </c:strCache>
            </c:strRef>
          </c:tx>
          <c:spPr>
            <a:solidFill>
              <a:srgbClr val="8A93A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425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1周目</c:v>
                  </c:pt>
                  <c:pt idx="1">
                    <c:v>2周目</c:v>
                  </c:pt>
                  <c:pt idx="2">
                    <c:v>3周目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1.9</c:v>
                </c:pt>
                <c:pt idx="1">
                  <c:v>1.9</c:v>
                </c:pt>
                <c:pt idx="2">
                  <c:v>1.9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UE・制御なし 3.0 m/s</c:v>
                </c:pt>
              </c:strCache>
            </c:strRef>
          </c:tx>
          <c:spPr>
            <a:solidFill>
              <a:srgbClr val="3A425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425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1周目</c:v>
                  </c:pt>
                  <c:pt idx="1">
                    <c:v>2周目</c:v>
                  </c:pt>
                  <c:pt idx="2">
                    <c:v>3周目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1.75</c:v>
                </c:pt>
                <c:pt idx="2">
                  <c:v>1.78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UE・IMU制御（最終）</c:v>
                </c:pt>
              </c:strCache>
            </c:strRef>
          </c:tx>
          <c:spPr>
            <a:solidFill>
              <a:srgbClr val="E400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425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1周目</c:v>
                  </c:pt>
                  <c:pt idx="1">
                    <c:v>2周目</c:v>
                  </c:pt>
                  <c:pt idx="2">
                    <c:v>3周目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1.75</c:v>
                </c:pt>
                <c:pt idx="1">
                  <c:v>0.89</c:v>
                </c:pt>
                <c:pt idx="2">
                  <c:v>1.4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3A425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2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l"/>
        <c:majorGridlines>
          <c:spPr>
            <a:ln w="9525" cap="flat">
              <a:solidFill>
                <a:srgbClr val="E3E6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8A93A3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8A93A3"/>
                    </a:solidFill>
                    <a:latin typeface="+mn-lt"/>
                  </a:rPr>
                  <a:t>ラップタイム [s]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3A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つかみ: 結論の数字（−29%）を先に見せる。何が変わったのか、本当に実機でも速くなるのか、という疑問を持ってもらうのが狙い。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重量90 g・最高速度8.8 m/s・IMU速度制御（200 Hz）の条件。実機の約1.9 s/周は動画から読み取った概算値。シミュレーションの物理ステップ約2 msでの結果。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答え: 10/27夜のスキャン取り込みから10/28夕方の最適化完了まで、ほぼ1日。ラップタイム最適化そのものは約2時間（試行バッチ20回）。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内側レーンスタートなので、レーンチェンジの1回目と3回目が橋の上、2回目が橋の下になる。これがラップごとのタイム差（1.75 / 0.89 / 1.40 s）の正体。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 g はタミヤ公式レギュレーションの最低重量（電池・モーター込み）。8.8 m/s はマッハダッシュPRO・ギヤ比3.5:1・タイヤ径24 mmの理論最高速度。実機設定は125.9 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重量90 g・制御なし。3.25 m/s以上はすべて橋の区間でコースアウト。ここから「常に全開」ではなく「どこで力を抜くか」を制御する方向に切り替えた。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デューティ = 目標速度/VMAX + kp·(目標−推定速度)/VMAX（kp=4）。橋の上は2.8 m/sを kp=8 で保持。3周目は進入速度が高いので想定減速度を 4.5→5.0 m/s² に分けた。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位置センサを使わず、向きの変化だけでコース上の位置を割り出している。シミュレーションのIMUにはノイズやバイアスを入れていないので、実機では静止キャリブレーションや周回ごとのリセットが必要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FC_p0（動画の走行）のログ。1周目と3周目は橋の手前の惰性区間が長い。2周目は橋の下を通るので減速なし。最高到達速度は約6.1〜6.3 m/sで、理論上限8.8 m/sには届かない（直線が短い）。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短縮率は実機1.9 s/周との比較。1周目は静止からの加速（約2.8 m/s以下はタイヤのグリップ律速）と、橋の手前の減速が重なる。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試行バッチは20回、総試行は約230回。頑健性は、スタート位置を横に±0.05〜0.1 cm、向きを±0.1〜0.2°揺らして評価した。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最終設定15試行の進入速度は2.60〜2.89 m/s。窓の上側を外すと橋の頂上で浮いて飛び出し、下側を外すと着地が壁にかかる。ラップ短縮の頭打ちはこの窓が原因。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タイヤ横力のモデルが時間刻みに依存している点が一番の課題。実機検証の前に、モデル側の改良（刻み非依存の横力、質量分布）が必要。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ショートブレーキは実機に実装済み。逆転ブレーキ（プラギング）は電流がロック電流の最大約2倍になるので、デューティ制限が必要。スリップはモーター逆起電力の車輪速とIMUの車体速度の比較で検出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成果物: 走行動画 UE走行動画_ラップタイム最適化_3周完走.mp4、レポート ラップタイム最適化レポート.md（mini4wdai フォルダ）。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42062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114800"/>
            <a:ext cx="42062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ミニ四駆 × Unreal Engine × IMU制御 ｜ ラップタイム最適化 中間報告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ミニ四駆 × Unreal Engine × IMU制御 ｜ ラップタイム最適化 中間報告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 course" descr="/tmp/claude-0/-home-claude/109a7e74-d190-52f1-8fee-e59ef3773487/scratchpad/deck/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0"/>
            <a:ext cx="7071055" cy="6858000"/>
          </a:xfrm>
          <a:prstGeom prst="rect">
            <a:avLst/>
          </a:prstGeom>
        </p:spPr>
      </p:pic>
      <p:sp>
        <p:nvSpPr>
          <p:cNvPr id="3" name="hero shade"/>
          <p:cNvSpPr/>
          <p:nvPr/>
        </p:nvSpPr>
        <p:spPr>
          <a:xfrm>
            <a:off x="5120640" y="0"/>
            <a:ext cx="7071055" cy="6858000"/>
          </a:xfrm>
          <a:prstGeom prst="rect">
            <a:avLst/>
          </a:prstGeom>
          <a:solidFill>
            <a:schemeClr val="tx1">
              <a:alpha val="55000"/>
            </a:scheme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中間報告  2026.10.29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1920240"/>
            <a:ext cx="4206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ミニ四駆は、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IMUだけで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何秒速くなるか</a:t>
            </a:r>
            <a:endParaRPr lang="en-US" sz="3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640080" y="411480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3Dスキャン × Unreal Engine × IMU速度制御で、立体レーンチェンジコース3周のタイムを詰める</a:t>
            </a:r>
            <a:endParaRPr lang="en-US" sz="1600" dirty="0"/>
          </a:p>
        </p:txBody>
      </p:sp>
      <p:sp>
        <p:nvSpPr>
          <p:cNvPr id="7" name="hero stat"/>
          <p:cNvSpPr txBox="1"/>
          <p:nvPr/>
        </p:nvSpPr>
        <p:spPr>
          <a:xfrm>
            <a:off x="7589520" y="42062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800" b="1" dirty="0">
                <a:solidFill>
                  <a:schemeClr val="bg1"/>
                </a:solidFill>
              </a:rPr>
              <a:t>−29</a:t>
            </a:r>
            <a:pPr algn="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 %</a:t>
            </a:r>
            <a:endParaRPr lang="en-US" sz="88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5486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実機（通常モーター）比 3周タイム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結論：3周 約5.7秒 → 4.05秒、15回中15回完走</a:t>
            </a:r>
            <a:endParaRPr lang="en-US" sz="3000" dirty="0"/>
          </a:p>
        </p:txBody>
      </p:sp>
      <p:sp>
        <p:nvSpPr>
          <p:cNvPr id="3" name="stat card 0"/>
          <p:cNvSpPr/>
          <p:nvPr/>
        </p:nvSpPr>
        <p:spPr>
          <a:xfrm>
            <a:off x="548640" y="1463040"/>
            <a:ext cx="2606040" cy="35661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4.05</a:t>
            </a:r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 s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2461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3周タイム（UE）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069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実機・通常モーター 約5.7 s</a:t>
            </a:r>
            <a:endParaRPr lang="en-US" sz="1300" dirty="0"/>
          </a:p>
        </p:txBody>
      </p:sp>
      <p:sp>
        <p:nvSpPr>
          <p:cNvPr id="7" name="stat card 1"/>
          <p:cNvSpPr/>
          <p:nvPr/>
        </p:nvSpPr>
        <p:spPr>
          <a:xfrm>
            <a:off x="3364992" y="1463040"/>
            <a:ext cx="2606040" cy="35661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93592" y="18745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−29</a:t>
            </a:r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 %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32461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実機比の短縮率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4069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約 −1.65 s</a:t>
            </a:r>
            <a:endParaRPr lang="en-US" sz="1300" dirty="0"/>
          </a:p>
        </p:txBody>
      </p:sp>
      <p:sp>
        <p:nvSpPr>
          <p:cNvPr id="11" name="stat card 2"/>
          <p:cNvSpPr/>
          <p:nvPr/>
        </p:nvSpPr>
        <p:spPr>
          <a:xfrm>
            <a:off x="6181344" y="1463040"/>
            <a:ext cx="2606040" cy="35661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9944" y="18745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15/15</a:t>
            </a:r>
            <a:pPr indent="0" marL="0">
              <a:buNone/>
            </a:pP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32461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コースアウトなし完走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4069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初期条件を揺らして検証</a:t>
            </a:r>
            <a:endParaRPr lang="en-US" sz="1300" dirty="0"/>
          </a:p>
        </p:txBody>
      </p:sp>
      <p:sp>
        <p:nvSpPr>
          <p:cNvPr id="15" name="stat card 3"/>
          <p:cNvSpPr/>
          <p:nvPr/>
        </p:nvSpPr>
        <p:spPr>
          <a:xfrm>
            <a:off x="8997696" y="1463040"/>
            <a:ext cx="2606040" cy="35661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226296" y="18745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0.89</a:t>
            </a:r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 s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9226296" y="32461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最速ラップ（2周目）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4069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実機は約1.9 s ／周</a:t>
            </a:r>
            <a:endParaRPr lang="en-US" sz="1300" dirty="0"/>
          </a:p>
        </p:txBody>
      </p:sp>
      <p:sp>
        <p:nvSpPr>
          <p:cNvPr id="19" name="Q pill1"/>
          <p:cNvSpPr/>
          <p:nvPr/>
        </p:nvSpPr>
        <p:spPr>
          <a:xfrm>
            <a:off x="4693615" y="5806440"/>
            <a:ext cx="694944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20" name="Q dot1"/>
          <p:cNvSpPr/>
          <p:nvPr/>
        </p:nvSpPr>
        <p:spPr>
          <a:xfrm>
            <a:off x="4775911" y="5870448"/>
            <a:ext cx="374904" cy="37490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1" name="Q mark1"/>
          <p:cNvSpPr txBox="1"/>
          <p:nvPr/>
        </p:nvSpPr>
        <p:spPr>
          <a:xfrm>
            <a:off x="4775911" y="587044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</a:t>
            </a:r>
            <a:endParaRPr lang="en-US" sz="1600" dirty="0"/>
          </a:p>
        </p:txBody>
      </p:sp>
      <p:sp>
        <p:nvSpPr>
          <p:cNvPr id="22" name="Q text1"/>
          <p:cNvSpPr txBox="1"/>
          <p:nvPr/>
        </p:nvSpPr>
        <p:spPr>
          <a:xfrm>
            <a:off x="5260543" y="58064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2周目だけ、なぜ実機の半分以下で走れるのか？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ここまでの道のり：スキャンから最適化まで</a:t>
            </a:r>
            <a:endParaRPr lang="en-US" sz="3000" dirty="0"/>
          </a:p>
        </p:txBody>
      </p:sp>
      <p:sp>
        <p:nvSpPr>
          <p:cNvPr id="3" name="timeline"/>
          <p:cNvSpPr/>
          <p:nvPr/>
        </p:nvSpPr>
        <p:spPr>
          <a:xfrm>
            <a:off x="1426464" y="2240280"/>
            <a:ext cx="93268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dash"/>
          </a:ln>
        </p:spPr>
      </p:sp>
      <p:sp>
        <p:nvSpPr>
          <p:cNvPr id="4" name="step dot 0"/>
          <p:cNvSpPr/>
          <p:nvPr/>
        </p:nvSpPr>
        <p:spPr>
          <a:xfrm>
            <a:off x="1042416" y="1856232"/>
            <a:ext cx="768096" cy="76809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2416" y="18562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3Dスキャン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337560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コース部品6点をスキャンしUEで組立</a:t>
            </a:r>
            <a:endParaRPr lang="en-US" sz="1300" dirty="0"/>
          </a:p>
        </p:txBody>
      </p:sp>
      <p:sp>
        <p:nvSpPr>
          <p:cNvPr id="8" name="step dot 1"/>
          <p:cNvSpPr/>
          <p:nvPr/>
        </p:nvSpPr>
        <p:spPr>
          <a:xfrm>
            <a:off x="2907792" y="1856232"/>
            <a:ext cx="768096" cy="76809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07792" y="18562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414016" y="283464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手動走行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459736" y="3337560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マッドレイザーをキーボードで操作</a:t>
            </a:r>
            <a:endParaRPr lang="en-US" sz="1300" dirty="0"/>
          </a:p>
        </p:txBody>
      </p:sp>
      <p:sp>
        <p:nvSpPr>
          <p:cNvPr id="12" name="step dot 2"/>
          <p:cNvSpPr/>
          <p:nvPr/>
        </p:nvSpPr>
        <p:spPr>
          <a:xfrm>
            <a:off x="4773168" y="1856232"/>
            <a:ext cx="768096" cy="76809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73168" y="18562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279392" y="283464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現象の再現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325112" y="3337560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マッハダッシュのコースアウトをUEで再現</a:t>
            </a:r>
            <a:endParaRPr lang="en-US" sz="1300" dirty="0"/>
          </a:p>
        </p:txBody>
      </p:sp>
      <p:sp>
        <p:nvSpPr>
          <p:cNvPr id="16" name="step dot 3"/>
          <p:cNvSpPr/>
          <p:nvPr/>
        </p:nvSpPr>
        <p:spPr>
          <a:xfrm>
            <a:off x="6638544" y="1856232"/>
            <a:ext cx="768096" cy="76809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38544" y="18562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144768" y="283464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IMUデータ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190488" y="3337560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仮想6軸IMUで200 Hzのセンサ値を取得</a:t>
            </a:r>
            <a:endParaRPr lang="en-US" sz="1300" dirty="0"/>
          </a:p>
        </p:txBody>
      </p:sp>
      <p:sp>
        <p:nvSpPr>
          <p:cNvPr id="20" name="step dot 4"/>
          <p:cNvSpPr/>
          <p:nvPr/>
        </p:nvSpPr>
        <p:spPr>
          <a:xfrm>
            <a:off x="8503920" y="1856232"/>
            <a:ext cx="768096" cy="7680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03920" y="18562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010144" y="283464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最適化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055864" y="3337560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IMUだけで速度を制御しタイム短縮</a:t>
            </a:r>
            <a:endParaRPr lang="en-US" sz="1300" dirty="0"/>
          </a:p>
        </p:txBody>
      </p:sp>
      <p:sp>
        <p:nvSpPr>
          <p:cNvPr id="24" name="step dot 5"/>
          <p:cNvSpPr/>
          <p:nvPr/>
        </p:nvSpPr>
        <p:spPr>
          <a:xfrm>
            <a:off x="10369296" y="1856232"/>
            <a:ext cx="768096" cy="768096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10369296" y="18562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6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283464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次の一手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921240" y="3337560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ブレーキ・グリップ・モーター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800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今回の報告は ⑤ の結果と、⑥ の検討</a:t>
            </a:r>
            <a:endParaRPr lang="en-US" sz="1500" dirty="0"/>
          </a:p>
        </p:txBody>
      </p:sp>
      <p:sp>
        <p:nvSpPr>
          <p:cNvPr id="29" name="Q pill2"/>
          <p:cNvSpPr/>
          <p:nvPr/>
        </p:nvSpPr>
        <p:spPr>
          <a:xfrm>
            <a:off x="4693615" y="5806440"/>
            <a:ext cx="694944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30" name="Q dot2"/>
          <p:cNvSpPr/>
          <p:nvPr/>
        </p:nvSpPr>
        <p:spPr>
          <a:xfrm>
            <a:off x="4775911" y="5870448"/>
            <a:ext cx="374904" cy="37490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1" name="Q mark2"/>
          <p:cNvSpPr txBox="1"/>
          <p:nvPr/>
        </p:nvSpPr>
        <p:spPr>
          <a:xfrm>
            <a:off x="4775911" y="587044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</a:t>
            </a:r>
            <a:endParaRPr lang="en-US" sz="1600" dirty="0"/>
          </a:p>
        </p:txBody>
      </p:sp>
      <p:sp>
        <p:nvSpPr>
          <p:cNvPr id="32" name="Q text2"/>
          <p:cNvSpPr txBox="1"/>
          <p:nvPr/>
        </p:nvSpPr>
        <p:spPr>
          <a:xfrm>
            <a:off x="5260543" y="58064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スキャンからここまで、作業時間はどのくらい？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舞台：周ごとに別のコースになる立体レーンチェンジ</a:t>
            </a:r>
            <a:endParaRPr lang="en-US" sz="3000" dirty="0"/>
          </a:p>
        </p:txBody>
      </p:sp>
      <p:pic>
        <p:nvPicPr>
          <p:cNvPr id="3" name="course image" descr="/tmp/claude-0/-home-claude/109a7e74-d190-52f1-8fee-e59ef3773487/scratchpad/deck/cou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583680" cy="33558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846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タミヤ オーバルホームサーキット（立体レーンチェンジタイプ）をUE上に再構築</a:t>
            </a:r>
            <a:endParaRPr lang="en-US" sz="1200" dirty="0"/>
          </a:p>
        </p:txBody>
      </p:sp>
      <p:sp>
        <p:nvSpPr>
          <p:cNvPr id="5" name="fact dot 0"/>
          <p:cNvSpPr/>
          <p:nvPr/>
        </p:nvSpPr>
        <p:spPr>
          <a:xfrm>
            <a:off x="7589520" y="141732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毎周レーンが入れ替わる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S字のレーンチェンジで内側と外側が交代</a:t>
            </a:r>
            <a:endParaRPr lang="en-US" sz="1300" dirty="0"/>
          </a:p>
        </p:txBody>
      </p:sp>
      <p:sp>
        <p:nvSpPr>
          <p:cNvPr id="8" name="fact dot 1"/>
          <p:cNvSpPr/>
          <p:nvPr/>
        </p:nvSpPr>
        <p:spPr>
          <a:xfrm>
            <a:off x="7589520" y="2560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514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1・3周目は橋の上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2971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坂を上って橋を渡る。速すぎると飛び出す</a:t>
            </a:r>
            <a:endParaRPr lang="en-US" sz="1300" dirty="0"/>
          </a:p>
        </p:txBody>
      </p:sp>
      <p:sp>
        <p:nvSpPr>
          <p:cNvPr id="11" name="fact dot 2"/>
          <p:cNvSpPr/>
          <p:nvPr/>
        </p:nvSpPr>
        <p:spPr>
          <a:xfrm>
            <a:off x="7589520" y="37033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2周目は橋の下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114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平坦なので全開で走り抜けられる</a:t>
            </a:r>
            <a:endParaRPr lang="en-US" sz="1300" dirty="0"/>
          </a:p>
        </p:txBody>
      </p:sp>
      <p:sp>
        <p:nvSpPr>
          <p:cNvPr id="14" name="Q pill3"/>
          <p:cNvSpPr/>
          <p:nvPr/>
        </p:nvSpPr>
        <p:spPr>
          <a:xfrm>
            <a:off x="4693615" y="5806440"/>
            <a:ext cx="694944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15" name="Q dot3"/>
          <p:cNvSpPr/>
          <p:nvPr/>
        </p:nvSpPr>
        <p:spPr>
          <a:xfrm>
            <a:off x="4775911" y="5870448"/>
            <a:ext cx="374904" cy="37490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6" name="Q mark3"/>
          <p:cNvSpPr txBox="1"/>
          <p:nvPr/>
        </p:nvSpPr>
        <p:spPr>
          <a:xfrm>
            <a:off x="4775911" y="587044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</a:t>
            </a:r>
            <a:endParaRPr lang="en-US" sz="1600" dirty="0"/>
          </a:p>
        </p:txBody>
      </p:sp>
      <p:sp>
        <p:nvSpPr>
          <p:cNvPr id="17" name="Q text3"/>
          <p:cNvSpPr txBox="1"/>
          <p:nvPr/>
        </p:nvSpPr>
        <p:spPr>
          <a:xfrm>
            <a:off x="5260543" y="58064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同じコースなのに、周によって最適な走り方が違う？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ルール：動かせるのは3つ、センサはIMUだけ</a:t>
            </a:r>
            <a:endParaRPr lang="en-US" sz="3000" dirty="0"/>
          </a:p>
        </p:txBody>
      </p:sp>
      <p:sp>
        <p:nvSpPr>
          <p:cNvPr id="3" name="rule card 0"/>
          <p:cNvSpPr/>
          <p:nvPr/>
        </p:nvSpPr>
        <p:spPr>
          <a:xfrm>
            <a:off x="548640" y="155448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rule tag 0"/>
          <p:cNvSpPr/>
          <p:nvPr/>
        </p:nvSpPr>
        <p:spPr>
          <a:xfrm>
            <a:off x="822960" y="1828800"/>
            <a:ext cx="201168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守ること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3周をコースアウトせず完走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走らせ方は前回の動画と同じ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地球上（g = 9.81 m/s²）</a:t>
            </a:r>
            <a:endParaRPr lang="en-US" sz="1500" dirty="0"/>
          </a:p>
        </p:txBody>
      </p:sp>
      <p:sp>
        <p:nvSpPr>
          <p:cNvPr id="7" name="rule card 1"/>
          <p:cNvSpPr/>
          <p:nvPr/>
        </p:nvSpPr>
        <p:spPr>
          <a:xfrm>
            <a:off x="4297680" y="155448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rule tag 1"/>
          <p:cNvSpPr/>
          <p:nvPr/>
        </p:nvSpPr>
        <p:spPr>
          <a:xfrm>
            <a:off x="4572000" y="1828800"/>
            <a:ext cx="20116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動かせるもの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51460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車体重量（下限 90 g）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最高速度（上限 8.8 m/s）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制御パラメータ 11個</a:t>
            </a:r>
            <a:endParaRPr lang="en-US" sz="1500" dirty="0"/>
          </a:p>
        </p:txBody>
      </p:sp>
      <p:sp>
        <p:nvSpPr>
          <p:cNvPr id="11" name="rule card 2"/>
          <p:cNvSpPr/>
          <p:nvPr/>
        </p:nvSpPr>
        <p:spPr>
          <a:xfrm>
            <a:off x="8046720" y="155448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rule tag 2"/>
          <p:cNvSpPr/>
          <p:nvPr/>
        </p:nvSpPr>
        <p:spPr>
          <a:xfrm>
            <a:off x="8321040" y="1828800"/>
            <a:ext cx="201168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使えるセンサ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51460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6軸IMU（加速度＋ジャイロ）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200 Hz・LSM6DS3相当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位置センサ・カメラはなし</a:t>
            </a:r>
            <a:endParaRPr lang="en-US" sz="1500" dirty="0"/>
          </a:p>
        </p:txBody>
      </p:sp>
      <p:sp>
        <p:nvSpPr>
          <p:cNvPr id="15" name="Q pill4"/>
          <p:cNvSpPr/>
          <p:nvPr/>
        </p:nvSpPr>
        <p:spPr>
          <a:xfrm>
            <a:off x="4693615" y="5806440"/>
            <a:ext cx="694944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16" name="Q dot4"/>
          <p:cNvSpPr/>
          <p:nvPr/>
        </p:nvSpPr>
        <p:spPr>
          <a:xfrm>
            <a:off x="4775911" y="5870448"/>
            <a:ext cx="374904" cy="37490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7" name="Q mark4"/>
          <p:cNvSpPr txBox="1"/>
          <p:nvPr/>
        </p:nvSpPr>
        <p:spPr>
          <a:xfrm>
            <a:off x="4775911" y="587044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</a:t>
            </a:r>
            <a:endParaRPr lang="en-US" sz="1600" dirty="0"/>
          </a:p>
        </p:txBody>
      </p:sp>
      <p:sp>
        <p:nvSpPr>
          <p:cNvPr id="18" name="Q text4"/>
          <p:cNvSpPr txBox="1"/>
          <p:nvPr/>
        </p:nvSpPr>
        <p:spPr>
          <a:xfrm>
            <a:off x="5260543" y="58064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GPSもカメラもなしで、自分がコースのどこにいるか分かる？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最初の壁：速くするほど、橋で飛ぶ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制御なしで最高速度だけを変えると…</a:t>
            </a:r>
            <a:endParaRPr lang="en-US" sz="1600" dirty="0"/>
          </a:p>
        </p:txBody>
      </p:sp>
      <p:sp>
        <p:nvSpPr>
          <p:cNvPr id="4" name="nc card 0"/>
          <p:cNvSpPr/>
          <p:nvPr/>
        </p:nvSpPr>
        <p:spPr>
          <a:xfrm>
            <a:off x="548640" y="1920240"/>
            <a:ext cx="1261872" cy="2103120"/>
          </a:xfrm>
          <a:prstGeom prst="roundRect">
            <a:avLst>
              <a:gd name="adj" fmla="val 8696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3.0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 m/s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完走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5.53 s</a:t>
            </a:r>
            <a:endParaRPr lang="en-US" sz="1600" dirty="0"/>
          </a:p>
        </p:txBody>
      </p:sp>
      <p:sp>
        <p:nvSpPr>
          <p:cNvPr id="8" name="nc card 1"/>
          <p:cNvSpPr/>
          <p:nvPr/>
        </p:nvSpPr>
        <p:spPr>
          <a:xfrm>
            <a:off x="1947672" y="1920240"/>
            <a:ext cx="1261872" cy="210312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947672" y="21031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3.5</a:t>
            </a:r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m/s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947672" y="27889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✕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947672" y="33832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コースアウト</a:t>
            </a:r>
            <a:endParaRPr lang="en-US" sz="1200" dirty="0"/>
          </a:p>
        </p:txBody>
      </p:sp>
      <p:sp>
        <p:nvSpPr>
          <p:cNvPr id="12" name="nc card 2"/>
          <p:cNvSpPr/>
          <p:nvPr/>
        </p:nvSpPr>
        <p:spPr>
          <a:xfrm>
            <a:off x="3346704" y="1920240"/>
            <a:ext cx="1261872" cy="210312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346704" y="21031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4.0</a:t>
            </a:r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m/s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346704" y="27889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✕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346704" y="33832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コースアウト</a:t>
            </a:r>
            <a:endParaRPr lang="en-US" sz="1200" dirty="0"/>
          </a:p>
        </p:txBody>
      </p:sp>
      <p:sp>
        <p:nvSpPr>
          <p:cNvPr id="16" name="nc card 3"/>
          <p:cNvSpPr/>
          <p:nvPr/>
        </p:nvSpPr>
        <p:spPr>
          <a:xfrm>
            <a:off x="4745736" y="1920240"/>
            <a:ext cx="1261872" cy="210312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745736" y="21031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4.5</a:t>
            </a:r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m/s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4745736" y="27889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✕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4745736" y="33832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コースアウト</a:t>
            </a:r>
            <a:endParaRPr lang="en-US" sz="1200" dirty="0"/>
          </a:p>
        </p:txBody>
      </p:sp>
      <p:sp>
        <p:nvSpPr>
          <p:cNvPr id="20" name="nc card 4"/>
          <p:cNvSpPr/>
          <p:nvPr/>
        </p:nvSpPr>
        <p:spPr>
          <a:xfrm>
            <a:off x="6144768" y="1920240"/>
            <a:ext cx="1261872" cy="210312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144768" y="21031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5.0</a:t>
            </a:r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m/s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6144768" y="27889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✕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6144768" y="33832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コースアウト</a:t>
            </a:r>
            <a:endParaRPr lang="en-US" sz="1200" dirty="0"/>
          </a:p>
        </p:txBody>
      </p:sp>
      <p:sp>
        <p:nvSpPr>
          <p:cNvPr id="24" name="nc card 5"/>
          <p:cNvSpPr/>
          <p:nvPr/>
        </p:nvSpPr>
        <p:spPr>
          <a:xfrm>
            <a:off x="7543800" y="1920240"/>
            <a:ext cx="1261872" cy="210312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543800" y="21031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5.5</a:t>
            </a:r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m/s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27889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✕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7543800" y="33832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コースアウト</a:t>
            </a:r>
            <a:endParaRPr lang="en-US" sz="1200" dirty="0"/>
          </a:p>
        </p:txBody>
      </p:sp>
      <p:sp>
        <p:nvSpPr>
          <p:cNvPr id="28" name="nc card 6"/>
          <p:cNvSpPr/>
          <p:nvPr/>
        </p:nvSpPr>
        <p:spPr>
          <a:xfrm>
            <a:off x="8942832" y="1920240"/>
            <a:ext cx="1261872" cy="210312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942832" y="21031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6.0</a:t>
            </a:r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m/s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8942832" y="27889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✕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8942832" y="33832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コースアウト</a:t>
            </a:r>
            <a:endParaRPr lang="en-US" sz="1200" dirty="0"/>
          </a:p>
        </p:txBody>
      </p:sp>
      <p:sp>
        <p:nvSpPr>
          <p:cNvPr id="32" name="nc card 7"/>
          <p:cNvSpPr/>
          <p:nvPr/>
        </p:nvSpPr>
        <p:spPr>
          <a:xfrm>
            <a:off x="10341864" y="1920240"/>
            <a:ext cx="1261872" cy="210312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10341864" y="21031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7.0</a:t>
            </a:r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m/s</a:t>
            </a:r>
            <a:endParaRPr lang="en-US" sz="2800" dirty="0"/>
          </a:p>
        </p:txBody>
      </p:sp>
      <p:sp>
        <p:nvSpPr>
          <p:cNvPr id="34" name="Text 32"/>
          <p:cNvSpPr txBox="1"/>
          <p:nvPr/>
        </p:nvSpPr>
        <p:spPr>
          <a:xfrm>
            <a:off x="10341864" y="27889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✕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10341864" y="33832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コースアウト</a:t>
            </a:r>
            <a:endParaRPr lang="en-US" sz="1200" dirty="0"/>
          </a:p>
        </p:txBody>
      </p:sp>
      <p:sp>
        <p:nvSpPr>
          <p:cNvPr id="36" name="insight card"/>
          <p:cNvSpPr/>
          <p:nvPr/>
        </p:nvSpPr>
        <p:spPr>
          <a:xfrm>
            <a:off x="548640" y="434340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22960" y="44348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速いモーターをそのまま積むと、レーンチェンジの橋で飛び出す。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実機のマッハダッシュPROで起きたコースアウトも、UE上で同じ場所・同じ形で再現できた。</a:t>
            </a:r>
            <a:endParaRPr lang="en-US" sz="1500" dirty="0"/>
          </a:p>
        </p:txBody>
      </p:sp>
      <p:sp>
        <p:nvSpPr>
          <p:cNvPr id="38" name="Q pill5"/>
          <p:cNvSpPr/>
          <p:nvPr/>
        </p:nvSpPr>
        <p:spPr>
          <a:xfrm>
            <a:off x="4693615" y="5806440"/>
            <a:ext cx="694944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39" name="Q dot5"/>
          <p:cNvSpPr/>
          <p:nvPr/>
        </p:nvSpPr>
        <p:spPr>
          <a:xfrm>
            <a:off x="4775911" y="5870448"/>
            <a:ext cx="374904" cy="37490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40" name="Q mark5"/>
          <p:cNvSpPr txBox="1"/>
          <p:nvPr/>
        </p:nvSpPr>
        <p:spPr>
          <a:xfrm>
            <a:off x="4775911" y="587044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</a:t>
            </a:r>
            <a:endParaRPr lang="en-US" sz="1600" dirty="0"/>
          </a:p>
        </p:txBody>
      </p:sp>
      <p:sp>
        <p:nvSpPr>
          <p:cNvPr id="41" name="Q text5"/>
          <p:cNvSpPr txBox="1"/>
          <p:nvPr/>
        </p:nvSpPr>
        <p:spPr>
          <a:xfrm>
            <a:off x="5260543" y="58064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なぜ「速いモーター」ほど遅い結果（＝リタイア）になるのか？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解法：アクセルを「踏む」場所ではなく「離す」場所を決める</a:t>
            </a:r>
            <a:endParaRPr lang="en-US" sz="3000" dirty="0"/>
          </a:p>
        </p:txBody>
      </p:sp>
      <p:sp>
        <p:nvSpPr>
          <p:cNvPr id="3" name="flow 0"/>
          <p:cNvSpPr/>
          <p:nvPr/>
        </p:nvSpPr>
        <p:spPr>
          <a:xfrm>
            <a:off x="548640" y="1554480"/>
            <a:ext cx="1828800" cy="1737360"/>
          </a:xfrm>
          <a:prstGeom prst="roundRect">
            <a:avLst>
              <a:gd name="adj" fmla="val 7895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IMU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加速度・角速度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200 Hz</a:t>
            </a:r>
            <a:endParaRPr lang="en-US" sz="1300" dirty="0"/>
          </a:p>
        </p:txBody>
      </p:sp>
      <p:sp>
        <p:nvSpPr>
          <p:cNvPr id="6" name="arrow 0"/>
          <p:cNvSpPr/>
          <p:nvPr/>
        </p:nvSpPr>
        <p:spPr>
          <a:xfrm rot="5400000">
            <a:off x="2450592" y="2267712"/>
            <a:ext cx="310896" cy="310896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7" name="flow 1"/>
          <p:cNvSpPr/>
          <p:nvPr/>
        </p:nvSpPr>
        <p:spPr>
          <a:xfrm>
            <a:off x="2834640" y="1554480"/>
            <a:ext cx="1828800" cy="1737360"/>
          </a:xfrm>
          <a:prstGeom prst="roundRect">
            <a:avLst>
              <a:gd name="adj" fmla="val 7895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34640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推定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2860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向き ψ 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速度 v̂</a:t>
            </a:r>
            <a:endParaRPr lang="en-US" sz="1300" dirty="0"/>
          </a:p>
        </p:txBody>
      </p:sp>
      <p:sp>
        <p:nvSpPr>
          <p:cNvPr id="10" name="arrow 1"/>
          <p:cNvSpPr/>
          <p:nvPr/>
        </p:nvSpPr>
        <p:spPr>
          <a:xfrm rot="5400000">
            <a:off x="4736592" y="2267712"/>
            <a:ext cx="310896" cy="310896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1" name="flow 2"/>
          <p:cNvSpPr/>
          <p:nvPr/>
        </p:nvSpPr>
        <p:spPr>
          <a:xfrm>
            <a:off x="5120640" y="1554480"/>
            <a:ext cx="1828800" cy="1737360"/>
          </a:xfrm>
          <a:prstGeom prst="roundRect">
            <a:avLst>
              <a:gd name="adj" fmla="val 7895"/>
            </a:avLst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20640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位置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2860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橋までの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残り距離 s</a:t>
            </a:r>
            <a:endParaRPr lang="en-US" sz="1300" dirty="0"/>
          </a:p>
        </p:txBody>
      </p:sp>
      <p:sp>
        <p:nvSpPr>
          <p:cNvPr id="14" name="arrow 2"/>
          <p:cNvSpPr/>
          <p:nvPr/>
        </p:nvSpPr>
        <p:spPr>
          <a:xfrm rot="5400000">
            <a:off x="7022592" y="2267712"/>
            <a:ext cx="310896" cy="310896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5" name="flow 3"/>
          <p:cNvSpPr/>
          <p:nvPr/>
        </p:nvSpPr>
        <p:spPr>
          <a:xfrm>
            <a:off x="7406640" y="1554480"/>
            <a:ext cx="1828800" cy="1737360"/>
          </a:xfrm>
          <a:prstGeom prst="roundRect">
            <a:avLst>
              <a:gd name="adj" fmla="val 7895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06640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計画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22860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惰性で落とす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開始点を逆算</a:t>
            </a:r>
            <a:endParaRPr lang="en-US" sz="1300" dirty="0"/>
          </a:p>
        </p:txBody>
      </p:sp>
      <p:sp>
        <p:nvSpPr>
          <p:cNvPr id="18" name="arrow 3"/>
          <p:cNvSpPr/>
          <p:nvPr/>
        </p:nvSpPr>
        <p:spPr>
          <a:xfrm rot="5400000">
            <a:off x="9308592" y="2267712"/>
            <a:ext cx="310896" cy="310896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9" name="flow 4"/>
          <p:cNvSpPr/>
          <p:nvPr/>
        </p:nvSpPr>
        <p:spPr>
          <a:xfrm>
            <a:off x="9692640" y="1554480"/>
            <a:ext cx="1828800" cy="1737360"/>
          </a:xfrm>
          <a:prstGeom prst="roundRect">
            <a:avLst>
              <a:gd name="adj" fmla="val 7895"/>
            </a:avLst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92640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出力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784080" y="22860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PWMデューティ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0〜100 %</a:t>
            </a:r>
            <a:endParaRPr lang="en-US" sz="1300" dirty="0"/>
          </a:p>
        </p:txBody>
      </p:sp>
      <p:sp>
        <p:nvSpPr>
          <p:cNvPr id="22" name="formula card"/>
          <p:cNvSpPr/>
          <p:nvPr/>
        </p:nvSpPr>
        <p:spPr>
          <a:xfrm>
            <a:off x="548640" y="3657600"/>
            <a:ext cx="53949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惰性で減速を始める速度の上限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2062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tx1"/>
                </a:solidFill>
              </a:rPr>
              <a:t>v</a:t>
            </a:r>
            <a:pPr indent="0" marL="0">
              <a:buNone/>
            </a:pPr>
            <a:r>
              <a:rPr lang="en-US" sz="2800" b="1" baseline="-40000" dirty="0">
                <a:solidFill>
                  <a:schemeClr val="tx1"/>
                </a:solidFill>
              </a:rPr>
              <a:t>lim</a:t>
            </a:r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 = √( </a:t>
            </a:r>
            <a:pPr indent="0" marL="0">
              <a:buNone/>
            </a:pPr>
            <a:r>
              <a:rPr lang="en-US" sz="2800" b="1" i="1" dirty="0">
                <a:solidFill>
                  <a:schemeClr val="tx1"/>
                </a:solidFill>
              </a:rPr>
              <a:t>v</a:t>
            </a:r>
            <a:pPr indent="0" marL="0">
              <a:buNone/>
            </a:pPr>
            <a:r>
              <a:rPr lang="en-US" sz="2800" b="1" baseline="-40000" dirty="0">
                <a:solidFill>
                  <a:schemeClr val="tx1"/>
                </a:solidFill>
              </a:rPr>
              <a:t>橋</a:t>
            </a:r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² + 2·</a:t>
            </a:r>
            <a:pPr indent="0" marL="0">
              <a:buNone/>
            </a:pPr>
            <a:r>
              <a:rPr lang="en-US" sz="2800" b="1" i="1" dirty="0">
                <a:solidFill>
                  <a:schemeClr val="tx1"/>
                </a:solidFill>
              </a:rPr>
              <a:t>a</a:t>
            </a:r>
            <a:pPr indent="0" marL="0">
              <a:buNone/>
            </a:pPr>
            <a:r>
              <a:rPr lang="en-US" sz="2800" b="1" baseline="-40000" dirty="0">
                <a:solidFill>
                  <a:schemeClr val="tx1"/>
                </a:solidFill>
              </a:rPr>
              <a:t>惰性</a:t>
            </a:r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·</a:t>
            </a:r>
            <a:pPr indent="0" marL="0">
              <a:buNone/>
            </a:pPr>
            <a:r>
              <a:rPr lang="en-US" sz="2800" b="1" i="1" dirty="0">
                <a:solidFill>
                  <a:schemeClr val="tx1"/>
                </a:solidFill>
              </a:rPr>
              <a:t>s</a:t>
            </a:r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 )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937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橋の手前で 2.7 m/s に落ちる地点を毎サンプル再計算</a:t>
            </a:r>
            <a:endParaRPr lang="en-US" sz="1300" dirty="0"/>
          </a:p>
        </p:txBody>
      </p:sp>
      <p:sp>
        <p:nvSpPr>
          <p:cNvPr id="26" name="nobrake card"/>
          <p:cNvSpPr/>
          <p:nvPr/>
        </p:nvSpPr>
        <p:spPr>
          <a:xfrm>
            <a:off x="6217920" y="3657600"/>
            <a:ext cx="53949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492240" y="379476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実機と同じ回路：スイッチ1個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ブレーキも逆転もない。減速できるのは「力を抜いて転がす」ことだけ。だから離すタイミングがすべて。</a:t>
            </a:r>
            <a:endParaRPr lang="en-US" sz="1500" dirty="0"/>
          </a:p>
        </p:txBody>
      </p:sp>
      <p:sp>
        <p:nvSpPr>
          <p:cNvPr id="28" name="Q pill6"/>
          <p:cNvSpPr/>
          <p:nvPr/>
        </p:nvSpPr>
        <p:spPr>
          <a:xfrm>
            <a:off x="4693615" y="5806440"/>
            <a:ext cx="694944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29" name="Q dot6"/>
          <p:cNvSpPr/>
          <p:nvPr/>
        </p:nvSpPr>
        <p:spPr>
          <a:xfrm>
            <a:off x="4775911" y="5870448"/>
            <a:ext cx="374904" cy="37490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0" name="Q mark6"/>
          <p:cNvSpPr txBox="1"/>
          <p:nvPr/>
        </p:nvSpPr>
        <p:spPr>
          <a:xfrm>
            <a:off x="4775911" y="587044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</a:t>
            </a:r>
            <a:endParaRPr lang="en-US" sz="1600" dirty="0"/>
          </a:p>
        </p:txBody>
      </p:sp>
      <p:sp>
        <p:nvSpPr>
          <p:cNvPr id="31" name="Q text6"/>
          <p:cNvSpPr txBox="1"/>
          <p:nvPr/>
        </p:nvSpPr>
        <p:spPr>
          <a:xfrm>
            <a:off x="5260543" y="58064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ブレーキがないのに、橋の手前で速度をぴったり合わせられる？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IMUだけで「今どこ」が分かる仕組み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n 回目のレーンチェンジは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ψ = −180° − 360°·n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右回りに走ると向き ψ は1周で −360° 進む。橋までの残り角度 × カーブ半径 = 残り距離。</a:t>
            </a:r>
            <a:endParaRPr lang="en-US" sz="1500" dirty="0"/>
          </a:p>
        </p:txBody>
      </p:sp>
      <p:sp>
        <p:nvSpPr>
          <p:cNvPr id="6" name="how card 0"/>
          <p:cNvSpPr/>
          <p:nvPr/>
        </p:nvSpPr>
        <p:spPr>
          <a:xfrm>
            <a:off x="6766560" y="1554480"/>
            <a:ext cx="484632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9494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635240" y="1664208"/>
            <a:ext cx="3840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ジャイロを積分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姿勢と向き ψ を連続値で保持</a:t>
            </a:r>
            <a:endParaRPr lang="en-US" sz="1600" dirty="0"/>
          </a:p>
        </p:txBody>
      </p:sp>
      <p:sp>
        <p:nvSpPr>
          <p:cNvPr id="9" name="how card 1"/>
          <p:cNvSpPr/>
          <p:nvPr/>
        </p:nvSpPr>
        <p:spPr>
          <a:xfrm>
            <a:off x="6766560" y="2880360"/>
            <a:ext cx="484632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4944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990088"/>
            <a:ext cx="3840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加速度を航法座標で積分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坂で傾いても速度 v̂ がずれにくい</a:t>
            </a:r>
            <a:endParaRPr lang="en-US" sz="1600" dirty="0"/>
          </a:p>
        </p:txBody>
      </p:sp>
      <p:sp>
        <p:nvSpPr>
          <p:cNvPr id="12" name="how card 2"/>
          <p:cNvSpPr/>
          <p:nvPr/>
        </p:nvSpPr>
        <p:spPr>
          <a:xfrm>
            <a:off x="6766560" y="4206240"/>
            <a:ext cx="484632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4944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4315968"/>
            <a:ext cx="3840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直線はオドメトリ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向きが変わらない区間は v̂ を積分して距離に</a:t>
            </a:r>
            <a:endParaRPr lang="en-US" sz="1600" dirty="0"/>
          </a:p>
        </p:txBody>
      </p:sp>
      <p:sp>
        <p:nvSpPr>
          <p:cNvPr id="15" name="Q pill7"/>
          <p:cNvSpPr/>
          <p:nvPr/>
        </p:nvSpPr>
        <p:spPr>
          <a:xfrm>
            <a:off x="4693615" y="5806440"/>
            <a:ext cx="694944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16" name="Q dot7"/>
          <p:cNvSpPr/>
          <p:nvPr/>
        </p:nvSpPr>
        <p:spPr>
          <a:xfrm>
            <a:off x="4775911" y="5870448"/>
            <a:ext cx="374904" cy="37490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7" name="Q mark7"/>
          <p:cNvSpPr txBox="1"/>
          <p:nvPr/>
        </p:nvSpPr>
        <p:spPr>
          <a:xfrm>
            <a:off x="4775911" y="587044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</a:t>
            </a:r>
            <a:endParaRPr lang="en-US" sz="1600" dirty="0"/>
          </a:p>
        </p:txBody>
      </p:sp>
      <p:sp>
        <p:nvSpPr>
          <p:cNvPr id="18" name="Q text7"/>
          <p:cNvSpPr txBox="1"/>
          <p:nvPr/>
        </p:nvSpPr>
        <p:spPr>
          <a:xfrm>
            <a:off x="5260543" y="58064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ジャイロのドリフトがあったら、実機で何周まで持つ？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3周4.05秒の中身：加速・惰性・橋・全開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34440"/>
          <a:ext cx="78638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hase dot 0"/>
          <p:cNvSpPr/>
          <p:nvPr/>
        </p:nvSpPr>
        <p:spPr>
          <a:xfrm>
            <a:off x="8641080" y="1417320"/>
            <a:ext cx="274320" cy="2743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05256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0〜0.56 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1周目 全開で加速</a:t>
            </a:r>
            <a:endParaRPr lang="en-US" sz="1400" dirty="0"/>
          </a:p>
        </p:txBody>
      </p:sp>
      <p:sp>
        <p:nvSpPr>
          <p:cNvPr id="6" name="phase dot 1"/>
          <p:cNvSpPr/>
          <p:nvPr/>
        </p:nvSpPr>
        <p:spPr>
          <a:xfrm>
            <a:off x="8641080" y="2286000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052560" y="21945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0.56〜1.12 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惰性で 2.7 m/s まで減速</a:t>
            </a:r>
            <a:endParaRPr lang="en-US" sz="1400" dirty="0"/>
          </a:p>
        </p:txBody>
      </p:sp>
      <p:sp>
        <p:nvSpPr>
          <p:cNvPr id="8" name="phase dot 2"/>
          <p:cNvSpPr/>
          <p:nvPr/>
        </p:nvSpPr>
        <p:spPr>
          <a:xfrm>
            <a:off x="8641080" y="315468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052560" y="30632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1.12〜1.32 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橋の上 2.8 m/s 保持</a:t>
            </a:r>
            <a:endParaRPr lang="en-US" sz="1400" dirty="0"/>
          </a:p>
        </p:txBody>
      </p:sp>
      <p:sp>
        <p:nvSpPr>
          <p:cNvPr id="10" name="phase dot 3"/>
          <p:cNvSpPr/>
          <p:nvPr/>
        </p:nvSpPr>
        <p:spPr>
          <a:xfrm>
            <a:off x="8641080" y="402336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052560" y="39319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1.75〜2.65 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2周目 ほぼ全開（最高 6.1 m/s）</a:t>
            </a:r>
            <a:endParaRPr lang="en-US" sz="1400" dirty="0"/>
          </a:p>
        </p:txBody>
      </p:sp>
      <p:sp>
        <p:nvSpPr>
          <p:cNvPr id="12" name="phase dot 4"/>
          <p:cNvSpPr/>
          <p:nvPr/>
        </p:nvSpPr>
        <p:spPr>
          <a:xfrm>
            <a:off x="8641080" y="4892040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052560" y="4800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2.60〜3.60 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3周目 惰性→橋</a:t>
            </a:r>
            <a:endParaRPr lang="en-US" sz="1400" dirty="0"/>
          </a:p>
        </p:txBody>
      </p:sp>
      <p:sp>
        <p:nvSpPr>
          <p:cNvPr id="14" name="Q pill8"/>
          <p:cNvSpPr/>
          <p:nvPr/>
        </p:nvSpPr>
        <p:spPr>
          <a:xfrm>
            <a:off x="4693615" y="5806440"/>
            <a:ext cx="694944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15" name="Q dot8"/>
          <p:cNvSpPr/>
          <p:nvPr/>
        </p:nvSpPr>
        <p:spPr>
          <a:xfrm>
            <a:off x="4775911" y="5870448"/>
            <a:ext cx="374904" cy="37490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6" name="Q mark8"/>
          <p:cNvSpPr txBox="1"/>
          <p:nvPr/>
        </p:nvSpPr>
        <p:spPr>
          <a:xfrm>
            <a:off x="4775911" y="587044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</a:t>
            </a:r>
            <a:endParaRPr lang="en-US" sz="1600" dirty="0"/>
          </a:p>
        </p:txBody>
      </p:sp>
      <p:sp>
        <p:nvSpPr>
          <p:cNvPr id="17" name="Q text8"/>
          <p:cNvSpPr txBox="1"/>
          <p:nvPr/>
        </p:nvSpPr>
        <p:spPr>
          <a:xfrm>
            <a:off x="5260543" y="58064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推定速度と実速度のズレ、実機ではどこまで広がる？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ラップ比較：縮んだのは主に2周目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34440"/>
          <a:ext cx="73152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ap note 0"/>
          <p:cNvSpPr/>
          <p:nvPr/>
        </p:nvSpPr>
        <p:spPr>
          <a:xfrm>
            <a:off x="8138160" y="1371600"/>
            <a:ext cx="34747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366760" y="14813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2周目 −53 %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橋の下を通るので全開のまま</a:t>
            </a:r>
            <a:endParaRPr lang="en-US" sz="2000" dirty="0"/>
          </a:p>
        </p:txBody>
      </p:sp>
      <p:sp>
        <p:nvSpPr>
          <p:cNvPr id="6" name="lap note 1"/>
          <p:cNvSpPr/>
          <p:nvPr/>
        </p:nvSpPr>
        <p:spPr>
          <a:xfrm>
            <a:off x="8138160" y="2743200"/>
            <a:ext cx="34747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366760" y="28529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accent3"/>
                </a:solidFill>
              </a:rPr>
              <a:t>3周目 −26 %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高速から惰性で落とす。手前の加速が効く</a:t>
            </a:r>
            <a:endParaRPr lang="en-US" sz="2000" dirty="0"/>
          </a:p>
        </p:txBody>
      </p:sp>
      <p:sp>
        <p:nvSpPr>
          <p:cNvPr id="8" name="lap note 2"/>
          <p:cNvSpPr/>
          <p:nvPr/>
        </p:nvSpPr>
        <p:spPr>
          <a:xfrm>
            <a:off x="8138160" y="4114800"/>
            <a:ext cx="34747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366760" y="4224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1周目 −8 %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静止スタート＋橋。伸びしろ最大</a:t>
            </a:r>
            <a:endParaRPr lang="en-US" sz="2000" dirty="0"/>
          </a:p>
        </p:txBody>
      </p:sp>
      <p:sp>
        <p:nvSpPr>
          <p:cNvPr id="10" name="Q pill9"/>
          <p:cNvSpPr/>
          <p:nvPr/>
        </p:nvSpPr>
        <p:spPr>
          <a:xfrm>
            <a:off x="4693615" y="5806440"/>
            <a:ext cx="694944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11" name="Q dot9"/>
          <p:cNvSpPr/>
          <p:nvPr/>
        </p:nvSpPr>
        <p:spPr>
          <a:xfrm>
            <a:off x="4775911" y="5870448"/>
            <a:ext cx="374904" cy="37490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2" name="Q mark9"/>
          <p:cNvSpPr txBox="1"/>
          <p:nvPr/>
        </p:nvSpPr>
        <p:spPr>
          <a:xfrm>
            <a:off x="4775911" y="587044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</a:t>
            </a:r>
            <a:endParaRPr lang="en-US" sz="1600" dirty="0"/>
          </a:p>
        </p:txBody>
      </p:sp>
      <p:sp>
        <p:nvSpPr>
          <p:cNvPr id="13" name="Q text9"/>
          <p:cNvSpPr txBox="1"/>
          <p:nvPr/>
        </p:nvSpPr>
        <p:spPr>
          <a:xfrm>
            <a:off x="5260543" y="58064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1周目をあと0.3秒縮めるには、何を変える？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最適化の軌跡：最速と最強は別物だった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498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1463040"/>
                <a:gridCol w="1645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段階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主な工夫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3周タイム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完走率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ベースライン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制御なし・3.0 m/s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5.47〜5.53 s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3.25 m/s以上で✕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向きで減速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固定角度でアクセルを離す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4.25〜4.37 s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低い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減速点の計画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√(v²+2as) で逆算＋直線オドメトリ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3.99〜4.00 s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3周目を分離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後半用の想定減速度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3.95〜3.98 s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再試行で✕あり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400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最終（採用）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上記を頑健側に調整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平均 4.03 s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400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15/15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rap card"/>
          <p:cNvSpPr/>
          <p:nvPr/>
        </p:nvSpPr>
        <p:spPr>
          <a:xfrm>
            <a:off x="8412480" y="1325880"/>
            <a:ext cx="3200400" cy="4114800"/>
          </a:xfrm>
          <a:prstGeom prst="roundRect">
            <a:avLst>
              <a:gd name="adj" fmla="val 3429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64108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幻の 3.87 秒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20574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3.87</a:t>
            </a:r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 s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32004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減速度を強気に見込んだ設定で出た最速記録。ただし12回中、完走は3回だけ。</a:t>
            </a:r>
            <a:endParaRPr lang="en-US" sz="1400" dirty="0"/>
          </a:p>
        </p:txBody>
      </p:sp>
      <p:sp>
        <p:nvSpPr>
          <p:cNvPr id="8" name="Q pill10"/>
          <p:cNvSpPr/>
          <p:nvPr/>
        </p:nvSpPr>
        <p:spPr>
          <a:xfrm>
            <a:off x="4693615" y="5806440"/>
            <a:ext cx="694944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9" name="Q dot10"/>
          <p:cNvSpPr/>
          <p:nvPr/>
        </p:nvSpPr>
        <p:spPr>
          <a:xfrm>
            <a:off x="4775911" y="5870448"/>
            <a:ext cx="374904" cy="37490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Q mark10"/>
          <p:cNvSpPr txBox="1"/>
          <p:nvPr/>
        </p:nvSpPr>
        <p:spPr>
          <a:xfrm>
            <a:off x="4775911" y="587044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</a:t>
            </a:r>
            <a:endParaRPr lang="en-US" sz="1600" dirty="0"/>
          </a:p>
        </p:txBody>
      </p:sp>
      <p:sp>
        <p:nvSpPr>
          <p:cNvPr id="11" name="Q text10"/>
          <p:cNvSpPr txBox="1"/>
          <p:nvPr/>
        </p:nvSpPr>
        <p:spPr>
          <a:xfrm>
            <a:off x="5260543" y="58064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レースで選ぶなら、最速の3.87秒？　確実な4.03秒？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発見：橋に入れる速度の幅は、たった 0.25 m/s</a:t>
            </a:r>
            <a:endParaRPr lang="en-US" sz="3000" dirty="0"/>
          </a:p>
        </p:txBody>
      </p:sp>
      <p:sp>
        <p:nvSpPr>
          <p:cNvPr id="3" name="window seg 0"/>
          <p:cNvSpPr/>
          <p:nvPr/>
        </p:nvSpPr>
        <p:spPr>
          <a:xfrm>
            <a:off x="548640" y="1737360"/>
            <a:ext cx="4093769" cy="82296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409376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壁に着地</a:t>
            </a:r>
            <a:endParaRPr lang="en-US" sz="1700" dirty="0"/>
          </a:p>
        </p:txBody>
      </p:sp>
      <p:sp>
        <p:nvSpPr>
          <p:cNvPr id="5" name="window seg 1"/>
          <p:cNvSpPr/>
          <p:nvPr/>
        </p:nvSpPr>
        <p:spPr>
          <a:xfrm>
            <a:off x="4642409" y="1737360"/>
            <a:ext cx="2876702" cy="82296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42409" y="1737360"/>
            <a:ext cx="28767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安全  2.60〜2.85 m/s</a:t>
            </a:r>
            <a:endParaRPr lang="en-US" sz="1700" dirty="0"/>
          </a:p>
        </p:txBody>
      </p:sp>
      <p:sp>
        <p:nvSpPr>
          <p:cNvPr id="7" name="window seg 2"/>
          <p:cNvSpPr/>
          <p:nvPr/>
        </p:nvSpPr>
        <p:spPr>
          <a:xfrm>
            <a:off x="7519111" y="1737360"/>
            <a:ext cx="4093769" cy="82296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19111" y="1737360"/>
            <a:ext cx="409376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橋から飛び出す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51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遅い ←　坂の手前での進入速度　→ 速い</a:t>
            </a:r>
            <a:endParaRPr lang="en-US" sz="1300" dirty="0"/>
          </a:p>
        </p:txBody>
      </p:sp>
      <p:pic>
        <p:nvPicPr>
          <p:cNvPr id="10" name="bridge frame 0" descr="/tmp/claude-0/-home-claude/109a7e74-d190-52f1-8fee-e59ef3773487/scratchpad/deck/lc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46120"/>
            <a:ext cx="2606040" cy="103327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4343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坂を上る</a:t>
            </a:r>
            <a:endParaRPr lang="en-US" sz="1200" dirty="0"/>
          </a:p>
        </p:txBody>
      </p:sp>
      <p:pic>
        <p:nvPicPr>
          <p:cNvPr id="12" name="bridge frame 1" descr="/tmp/claude-0/-home-claude/109a7e74-d190-52f1-8fee-e59ef3773487/scratchpad/deck/lc5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3246120"/>
            <a:ext cx="2606040" cy="103327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64992" y="4343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橋の頂上</a:t>
            </a:r>
            <a:endParaRPr lang="en-US" sz="1200" dirty="0"/>
          </a:p>
        </p:txBody>
      </p:sp>
      <p:pic>
        <p:nvPicPr>
          <p:cNvPr id="14" name="bridge frame 2" descr="/tmp/claude-0/-home-claude/109a7e74-d190-52f1-8fee-e59ef3773487/scratchpad/deck/lc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3246120"/>
            <a:ext cx="2606040" cy="10332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181344" y="4343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下りへ</a:t>
            </a:r>
            <a:endParaRPr lang="en-US" sz="1200" dirty="0"/>
          </a:p>
        </p:txBody>
      </p:sp>
      <p:pic>
        <p:nvPicPr>
          <p:cNvPr id="16" name="bridge frame 3" descr="/tmp/claude-0/-home-claude/109a7e74-d190-52f1-8fee-e59ef3773487/scratchpad/deck/lc6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3246120"/>
            <a:ext cx="2606040" cy="103327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97696" y="4343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着地・離脱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最終走行の橋の通過（実時間で約0.2秒）</a:t>
            </a:r>
            <a:endParaRPr lang="en-US" sz="1200" dirty="0"/>
          </a:p>
        </p:txBody>
      </p:sp>
      <p:sp>
        <p:nvSpPr>
          <p:cNvPr id="19" name="Q pill11"/>
          <p:cNvSpPr/>
          <p:nvPr/>
        </p:nvSpPr>
        <p:spPr>
          <a:xfrm>
            <a:off x="4693615" y="5806440"/>
            <a:ext cx="694944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20" name="Q dot11"/>
          <p:cNvSpPr/>
          <p:nvPr/>
        </p:nvSpPr>
        <p:spPr>
          <a:xfrm>
            <a:off x="4775911" y="5870448"/>
            <a:ext cx="374904" cy="37490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1" name="Q mark11"/>
          <p:cNvSpPr txBox="1"/>
          <p:nvPr/>
        </p:nvSpPr>
        <p:spPr>
          <a:xfrm>
            <a:off x="4775911" y="587044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</a:t>
            </a:r>
            <a:endParaRPr lang="en-US" sz="1600" dirty="0"/>
          </a:p>
        </p:txBody>
      </p:sp>
      <p:sp>
        <p:nvSpPr>
          <p:cNvPr id="22" name="Q text11"/>
          <p:cNvSpPr txBox="1"/>
          <p:nvPr/>
        </p:nvSpPr>
        <p:spPr>
          <a:xfrm>
            <a:off x="5260543" y="58064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この0.25 m/sの窓を広げられたら、何秒縮む？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正直な限界：この4.05秒をどこまで信じるか</a:t>
            </a:r>
            <a:endParaRPr lang="en-US" sz="3000" dirty="0"/>
          </a:p>
        </p:txBody>
      </p:sp>
      <p:sp>
        <p:nvSpPr>
          <p:cNvPr id="3" name="limit card 0"/>
          <p:cNvSpPr/>
          <p:nvPr/>
        </p:nvSpPr>
        <p:spPr>
          <a:xfrm>
            <a:off x="548640" y="1463040"/>
            <a:ext cx="54406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limit dot 0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!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3736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物理の刻みに依存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刻みを2 ms→0.83 msにすると、別の候補設定はコースアウトした</a:t>
            </a:r>
            <a:endParaRPr lang="en-US" sz="1800" dirty="0"/>
          </a:p>
        </p:txBody>
      </p:sp>
      <p:sp>
        <p:nvSpPr>
          <p:cNvPr id="7" name="limit card 1"/>
          <p:cNvSpPr/>
          <p:nvPr/>
        </p:nvSpPr>
        <p:spPr>
          <a:xfrm>
            <a:off x="6172200" y="1463040"/>
            <a:ext cx="54406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limit dot 1"/>
          <p:cNvSpPr/>
          <p:nvPr/>
        </p:nvSpPr>
        <p:spPr>
          <a:xfrm>
            <a:off x="6446520" y="178308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!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173736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着地はカオス的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わずかな初期差で着地点が変わる。15/15は保証ではない</a:t>
            </a:r>
            <a:endParaRPr lang="en-US" sz="1800" dirty="0"/>
          </a:p>
        </p:txBody>
      </p:sp>
      <p:sp>
        <p:nvSpPr>
          <p:cNvPr id="11" name="limit card 2"/>
          <p:cNvSpPr/>
          <p:nvPr/>
        </p:nvSpPr>
        <p:spPr>
          <a:xfrm>
            <a:off x="548640" y="3429000"/>
            <a:ext cx="54406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limit dot 2"/>
          <p:cNvSpPr/>
          <p:nvPr/>
        </p:nvSpPr>
        <p:spPr>
          <a:xfrm>
            <a:off x="822960" y="374904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!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70332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センサが理想的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IMUにノイズ・バイアス・取付誤差を入れていない</a:t>
            </a:r>
            <a:endParaRPr lang="en-US" sz="1800" dirty="0"/>
          </a:p>
        </p:txBody>
      </p:sp>
      <p:sp>
        <p:nvSpPr>
          <p:cNvPr id="15" name="limit card 3"/>
          <p:cNvSpPr/>
          <p:nvPr/>
        </p:nvSpPr>
        <p:spPr>
          <a:xfrm>
            <a:off x="6172200" y="3429000"/>
            <a:ext cx="54406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limit dot 3"/>
          <p:cNvSpPr/>
          <p:nvPr/>
        </p:nvSpPr>
        <p:spPr>
          <a:xfrm>
            <a:off x="6446520" y="374904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!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370332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実機との差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重量90 g（実機125.9 g）。公式レースでは電子制御は使えない</a:t>
            </a:r>
            <a:endParaRPr lang="en-US" sz="1800" dirty="0"/>
          </a:p>
        </p:txBody>
      </p:sp>
      <p:sp>
        <p:nvSpPr>
          <p:cNvPr id="19" name="Q pill12"/>
          <p:cNvSpPr/>
          <p:nvPr/>
        </p:nvSpPr>
        <p:spPr>
          <a:xfrm>
            <a:off x="4693615" y="5806440"/>
            <a:ext cx="694944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20" name="Q dot12"/>
          <p:cNvSpPr/>
          <p:nvPr/>
        </p:nvSpPr>
        <p:spPr>
          <a:xfrm>
            <a:off x="4775911" y="5870448"/>
            <a:ext cx="374904" cy="37490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1" name="Q mark12"/>
          <p:cNvSpPr txBox="1"/>
          <p:nvPr/>
        </p:nvSpPr>
        <p:spPr>
          <a:xfrm>
            <a:off x="4775911" y="587044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</a:t>
            </a:r>
            <a:endParaRPr lang="en-US" sz="1600" dirty="0"/>
          </a:p>
        </p:txBody>
      </p:sp>
      <p:sp>
        <p:nvSpPr>
          <p:cNvPr id="22" name="Q text12"/>
          <p:cNvSpPr txBox="1"/>
          <p:nvPr/>
        </p:nvSpPr>
        <p:spPr>
          <a:xfrm>
            <a:off x="5260543" y="58064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シミュレーションの4.05秒、実機で何秒まで再現できる？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次の一手：どこを変えると、さらに速くなるか</a:t>
            </a:r>
            <a:endParaRPr lang="en-US" sz="3000" dirty="0"/>
          </a:p>
        </p:txBody>
      </p:sp>
      <p:sp>
        <p:nvSpPr>
          <p:cNvPr id="3" name="next card 0"/>
          <p:cNvSpPr/>
          <p:nvPr/>
        </p:nvSpPr>
        <p:spPr>
          <a:xfrm>
            <a:off x="548640" y="1463040"/>
            <a:ext cx="54406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逆転ブレーキ＋ABS</a:t>
            </a:r>
            <a:endParaRPr lang="en-US" sz="1800" dirty="0"/>
          </a:p>
        </p:txBody>
      </p:sp>
      <p:sp>
        <p:nvSpPr>
          <p:cNvPr id="5" name="next tag 0"/>
          <p:cNvSpPr/>
          <p:nvPr/>
        </p:nvSpPr>
        <p:spPr>
          <a:xfrm>
            <a:off x="4343400" y="1709928"/>
            <a:ext cx="13716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343400" y="17099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期待 大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ショートブレーキは低速で効きが落ちる。逆電圧なら全速度域でグリップ限界（約9.8 m/s²）まで使える</a:t>
            </a:r>
            <a:endParaRPr lang="en-US" sz="1500" dirty="0"/>
          </a:p>
        </p:txBody>
      </p:sp>
      <p:sp>
        <p:nvSpPr>
          <p:cNvPr id="8" name="next card 1"/>
          <p:cNvSpPr/>
          <p:nvPr/>
        </p:nvSpPr>
        <p:spPr>
          <a:xfrm>
            <a:off x="6172200" y="1463040"/>
            <a:ext cx="54406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4652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タイヤのグリップ</a:t>
            </a:r>
            <a:endParaRPr lang="en-US" sz="1800" dirty="0"/>
          </a:p>
        </p:txBody>
      </p:sp>
      <p:sp>
        <p:nvSpPr>
          <p:cNvPr id="10" name="next tag 1"/>
          <p:cNvSpPr/>
          <p:nvPr/>
        </p:nvSpPr>
        <p:spPr>
          <a:xfrm>
            <a:off x="9966960" y="1709928"/>
            <a:ext cx="13716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966960" y="17099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期待 大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2402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約2.8 m/s以下はモーターより先にタイヤが滑る。スタートと橋の後の再加速に直結</a:t>
            </a:r>
            <a:endParaRPr lang="en-US" sz="1500" dirty="0"/>
          </a:p>
        </p:txBody>
      </p:sp>
      <p:sp>
        <p:nvSpPr>
          <p:cNvPr id="13" name="next card 2"/>
          <p:cNvSpPr/>
          <p:nvPr/>
        </p:nvSpPr>
        <p:spPr>
          <a:xfrm>
            <a:off x="548640" y="3429000"/>
            <a:ext cx="54406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3657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モーター出力・電圧</a:t>
            </a:r>
            <a:endParaRPr lang="en-US" sz="1800" dirty="0"/>
          </a:p>
        </p:txBody>
      </p:sp>
      <p:sp>
        <p:nvSpPr>
          <p:cNvPr id="15" name="next tag 2"/>
          <p:cNvSpPr/>
          <p:nvPr/>
        </p:nvSpPr>
        <p:spPr>
          <a:xfrm>
            <a:off x="4343400" y="3675888"/>
            <a:ext cx="1371600" cy="411480"/>
          </a:xfrm>
          <a:prstGeom prst="roundRect">
            <a:avLst>
              <a:gd name="adj" fmla="val 48889"/>
            </a:avLst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43400" y="36758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期待 中〜大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2062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出力は電圧の2乗で効く。2.8 m/s以上の加速と直線が伸びる。ただしブレーキとセット</a:t>
            </a:r>
            <a:endParaRPr lang="en-US" sz="1500" dirty="0"/>
          </a:p>
        </p:txBody>
      </p:sp>
      <p:sp>
        <p:nvSpPr>
          <p:cNvPr id="18" name="next card 3"/>
          <p:cNvSpPr/>
          <p:nvPr/>
        </p:nvSpPr>
        <p:spPr>
          <a:xfrm>
            <a:off x="6172200" y="3429000"/>
            <a:ext cx="54406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46520" y="3657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重心・ホイールベース</a:t>
            </a:r>
            <a:endParaRPr lang="en-US" sz="1800" dirty="0"/>
          </a:p>
        </p:txBody>
      </p:sp>
      <p:sp>
        <p:nvSpPr>
          <p:cNvPr id="20" name="next tag 3"/>
          <p:cNvSpPr/>
          <p:nvPr/>
        </p:nvSpPr>
        <p:spPr>
          <a:xfrm>
            <a:off x="9966960" y="3675888"/>
            <a:ext cx="1371600" cy="411480"/>
          </a:xfrm>
          <a:prstGeom prst="roundRect">
            <a:avLst>
              <a:gd name="adj" fmla="val 48889"/>
            </a:avLst>
          </a:prstGeom>
          <a:solidFill>
            <a:schemeClr val="accent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66960" y="36758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要検証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2062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橋で浮きにくくなれば進入速度の窓が広がる。評価には物理モデルの改良が先</a:t>
            </a:r>
            <a:endParaRPr lang="en-US" sz="1500" dirty="0"/>
          </a:p>
        </p:txBody>
      </p:sp>
      <p:sp>
        <p:nvSpPr>
          <p:cNvPr id="23" name="Q pill13"/>
          <p:cNvSpPr/>
          <p:nvPr/>
        </p:nvSpPr>
        <p:spPr>
          <a:xfrm>
            <a:off x="4693615" y="5806440"/>
            <a:ext cx="694944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24" name="Q dot13"/>
          <p:cNvSpPr/>
          <p:nvPr/>
        </p:nvSpPr>
        <p:spPr>
          <a:xfrm>
            <a:off x="4775911" y="5870448"/>
            <a:ext cx="374904" cy="37490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5" name="Q mark13"/>
          <p:cNvSpPr txBox="1"/>
          <p:nvPr/>
        </p:nvSpPr>
        <p:spPr>
          <a:xfrm>
            <a:off x="4775911" y="587044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</a:t>
            </a:r>
            <a:endParaRPr lang="en-US" sz="1600" dirty="0"/>
          </a:p>
        </p:txBody>
      </p:sp>
      <p:sp>
        <p:nvSpPr>
          <p:cNvPr id="26" name="Q text13"/>
          <p:cNvSpPr txBox="1"/>
          <p:nvPr/>
        </p:nvSpPr>
        <p:spPr>
          <a:xfrm>
            <a:off x="5260543" y="58064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最初の1手、どれから試す？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議論したいこと</a:t>
            </a:r>
            <a:endParaRPr lang="en-US" sz="3000" dirty="0"/>
          </a:p>
        </p:txBody>
      </p:sp>
      <p:sp>
        <p:nvSpPr>
          <p:cNvPr id="3" name="disc dot 0"/>
          <p:cNvSpPr/>
          <p:nvPr/>
        </p:nvSpPr>
        <p:spPr>
          <a:xfrm>
            <a:off x="548640" y="15087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4173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「レギュレーション外の電子制御」で得た知見は、通常のミニ四駆づくりに還元できるか？</a:t>
            </a:r>
            <a:endParaRPr lang="en-US" sz="1900" dirty="0"/>
          </a:p>
        </p:txBody>
      </p:sp>
      <p:sp>
        <p:nvSpPr>
          <p:cNvPr id="6" name="disc dot 1"/>
          <p:cNvSpPr/>
          <p:nvPr/>
        </p:nvSpPr>
        <p:spPr>
          <a:xfrm>
            <a:off x="548640" y="2587752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58775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49631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シミュレーションと実機の差を測るには、まず何を計測すべきか？</a:t>
            </a:r>
            <a:endParaRPr lang="en-US" sz="1900" dirty="0"/>
          </a:p>
        </p:txBody>
      </p:sp>
      <p:sp>
        <p:nvSpPr>
          <p:cNvPr id="9" name="disc dot 2"/>
          <p:cNvSpPr/>
          <p:nvPr/>
        </p:nvSpPr>
        <p:spPr>
          <a:xfrm>
            <a:off x="548640" y="3666744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66674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575304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速さと完走率、評価指標はどう重み付けるべきか？</a:t>
            </a:r>
            <a:endParaRPr lang="en-US" sz="1900" dirty="0"/>
          </a:p>
        </p:txBody>
      </p:sp>
      <p:sp>
        <p:nvSpPr>
          <p:cNvPr id="12" name="disc dot 3"/>
          <p:cNvSpPr/>
          <p:nvPr/>
        </p:nvSpPr>
        <p:spPr>
          <a:xfrm>
            <a:off x="548640" y="4745736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74573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654296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同じ仕組みで、別のコースにも自動で適応できるか？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4WD Racing">
  <a:themeElements>
    <a:clrScheme name="Mini4WD Racing">
      <a:dk1>
        <a:srgbClr val="1B1F27"/>
      </a:dk1>
      <a:lt1>
        <a:srgbClr val="FFFFFF"/>
      </a:lt1>
      <a:dk2>
        <a:srgbClr val="3A4250"/>
      </a:dk2>
      <a:lt2>
        <a:srgbClr val="F1F3F6"/>
      </a:lt2>
      <a:accent1>
        <a:srgbClr val="E4002B"/>
      </a:accent1>
      <a:accent2>
        <a:srgbClr val="6DBE45"/>
      </a:accent2>
      <a:accent3>
        <a:srgbClr val="3D7BE0"/>
      </a:accent3>
      <a:accent4>
        <a:srgbClr val="F2B705"/>
      </a:accent4>
      <a:accent5>
        <a:srgbClr val="8A93A3"/>
      </a:accent5>
      <a:accent6>
        <a:srgbClr val="0FA3B1"/>
      </a:accent6>
      <a:hlink>
        <a:srgbClr val="3D7BE0"/>
      </a:hlink>
      <a:folHlink>
        <a:srgbClr val="6D2E9E"/>
      </a:folHlink>
    </a:clrScheme>
    <a:fontScheme name="Mini4WD Racing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ミニ四駆 ラップタイム最適化 中間報告</dc:title>
  <dc:subject>PptxGenJS Presentation</dc:subject>
  <dc:creator>PptxGenJS</dc:creator>
  <cp:lastModifiedBy>PptxGenJS</cp:lastModifiedBy>
  <cp:revision>1</cp:revision>
  <dcterms:created xsi:type="dcterms:W3CDTF">2026-10-29T12:57:09Z</dcterms:created>
  <dcterms:modified xsi:type="dcterms:W3CDTF">2026-10-29T12:57:09Z</dcterms:modified>
</cp:coreProperties>
</file>